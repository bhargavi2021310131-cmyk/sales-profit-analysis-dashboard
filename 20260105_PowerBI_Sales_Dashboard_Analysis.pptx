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69" r:id="rId5"/>
    <p:sldId id="272" r:id="rId6"/>
    <p:sldId id="271" r:id="rId7"/>
    <p:sldId id="270" r:id="rId8"/>
    <p:sldId id="268" r:id="rId9"/>
    <p:sldId id="261" r:id="rId10"/>
    <p:sldId id="262" r:id="rId11"/>
    <p:sldId id="273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62" autoAdjust="0"/>
  </p:normalViewPr>
  <p:slideViewPr>
    <p:cSldViewPr snapToGrid="0" snapToObjects="1">
      <p:cViewPr>
        <p:scale>
          <a:sx n="78" d="100"/>
          <a:sy n="78" d="100"/>
        </p:scale>
        <p:origin x="-1574" y="-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5683"/>
            <a:ext cx="8234464" cy="20766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Awesome Chocolates </a:t>
            </a:r>
            <a:br>
              <a:rPr lang="en-US" dirty="0" smtClean="0"/>
            </a:br>
            <a:r>
              <a:rPr smtClean="0"/>
              <a:t>Sales Performance</a:t>
            </a:r>
            <a:r>
              <a:rPr lang="en-US" dirty="0" smtClean="0"/>
              <a:t> </a:t>
            </a:r>
            <a:r>
              <a:rPr smtClean="0"/>
              <a:t>Dashboard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Bhargavi</a:t>
            </a:r>
            <a:endParaRPr/>
          </a:p>
        </p:txBody>
      </p:sp>
      <p:pic>
        <p:nvPicPr>
          <p:cNvPr id="4" name="Picture 3" descr="awesome chocolates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31" y="1505683"/>
            <a:ext cx="1257143" cy="125714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Power BI Dashboard Overview</a:t>
            </a:r>
          </a:p>
        </p:txBody>
      </p:sp>
      <p:pic>
        <p:nvPicPr>
          <p:cNvPr id="4" name="Picture 3" descr="report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99" y="1099226"/>
            <a:ext cx="8577935" cy="5243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370" y="1481328"/>
            <a:ext cx="8803532" cy="452596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7200" b="1" dirty="0" smtClean="0">
                <a:latin typeface="Book Antiqua" pitchFamily="18" charset="0"/>
              </a:rPr>
              <a:t>Analyses based On </a:t>
            </a:r>
            <a:r>
              <a:rPr lang="en-US" sz="7200" b="1" dirty="0" smtClean="0">
                <a:latin typeface="Book Antiqua" pitchFamily="18" charset="0"/>
              </a:rPr>
              <a:t> The Following </a:t>
            </a:r>
            <a:r>
              <a:rPr lang="en-US" sz="7200" b="1" dirty="0" smtClean="0">
                <a:latin typeface="Book Antiqua" pitchFamily="18" charset="0"/>
              </a:rPr>
              <a:t>Points:</a:t>
            </a:r>
          </a:p>
          <a:p>
            <a:pPr>
              <a:buNone/>
            </a:pPr>
            <a:endParaRPr lang="en-US" sz="7200" dirty="0" smtClean="0">
              <a:solidFill>
                <a:schemeClr val="bg2">
                  <a:lumMod val="50000"/>
                </a:schemeClr>
              </a:solidFill>
              <a:latin typeface="Book Antiqua" pitchFamily="18" charset="0"/>
            </a:endParaRPr>
          </a:p>
          <a:p>
            <a:pPr>
              <a:buNone/>
            </a:pPr>
            <a:r>
              <a:rPr sz="7200" smtClean="0">
                <a:solidFill>
                  <a:srgbClr val="C00000"/>
                </a:solidFill>
                <a:latin typeface="Book Antiqua" pitchFamily="18" charset="0"/>
              </a:rPr>
              <a:t>•</a:t>
            </a:r>
            <a:r>
              <a:rPr sz="7200" i="1" smtClean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7200" b="1" i="1" dirty="0" smtClean="0">
                <a:solidFill>
                  <a:srgbClr val="C00000"/>
                </a:solidFill>
                <a:latin typeface="Book Antiqua" pitchFamily="18" charset="0"/>
              </a:rPr>
              <a:t>Profit </a:t>
            </a:r>
            <a:r>
              <a:rPr lang="en-US" sz="72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-  </a:t>
            </a:r>
            <a:r>
              <a:rPr lang="en-US" sz="7200" dirty="0" smtClean="0">
                <a:latin typeface="Book Antiqua" pitchFamily="18" charset="0"/>
              </a:rPr>
              <a:t>It shows the net earnings after deducting all costs from total sales.</a:t>
            </a:r>
            <a:br>
              <a:rPr lang="en-US" sz="7200" dirty="0" smtClean="0">
                <a:latin typeface="Book Antiqua" pitchFamily="18" charset="0"/>
              </a:rPr>
            </a:br>
            <a:r>
              <a:rPr lang="en-US" sz="7200" dirty="0" smtClean="0">
                <a:latin typeface="Book Antiqua" pitchFamily="18" charset="0"/>
              </a:rPr>
              <a:t>Helps identify overall business performance and profitability trends.</a:t>
            </a:r>
          </a:p>
          <a:p>
            <a:pPr>
              <a:buNone/>
            </a:pPr>
            <a:endParaRPr sz="7200" b="1" dirty="0">
              <a:latin typeface="Book Antiqua" pitchFamily="18" charset="0"/>
            </a:endParaRPr>
          </a:p>
          <a:p>
            <a:pPr>
              <a:buNone/>
            </a:pPr>
            <a:r>
              <a:rPr sz="7200" b="1">
                <a:solidFill>
                  <a:srgbClr val="C00000"/>
                </a:solidFill>
                <a:latin typeface="Book Antiqua" pitchFamily="18" charset="0"/>
              </a:rPr>
              <a:t>• </a:t>
            </a:r>
            <a:r>
              <a:rPr lang="en-US" sz="7200" b="1" i="1" dirty="0" smtClean="0">
                <a:solidFill>
                  <a:srgbClr val="C00000"/>
                </a:solidFill>
                <a:latin typeface="Book Antiqua" pitchFamily="18" charset="0"/>
              </a:rPr>
              <a:t>Shipment Count </a:t>
            </a:r>
            <a:r>
              <a:rPr lang="en-US" sz="7200" b="1" dirty="0" smtClean="0">
                <a:latin typeface="Book Antiqua" pitchFamily="18" charset="0"/>
              </a:rPr>
              <a:t>-</a:t>
            </a:r>
            <a:r>
              <a:rPr lang="en-US" sz="7200" dirty="0" smtClean="0">
                <a:latin typeface="Book Antiqua" pitchFamily="18" charset="0"/>
              </a:rPr>
              <a:t>Shows the net earnings after deducting all costs from total sales.</a:t>
            </a:r>
            <a:br>
              <a:rPr lang="en-US" sz="7200" dirty="0" smtClean="0">
                <a:latin typeface="Book Antiqua" pitchFamily="18" charset="0"/>
              </a:rPr>
            </a:br>
            <a:r>
              <a:rPr lang="en-US" sz="7200" dirty="0" smtClean="0">
                <a:latin typeface="Book Antiqua" pitchFamily="18" charset="0"/>
              </a:rPr>
              <a:t>Helps identify overall business performance and profitability trends.</a:t>
            </a:r>
          </a:p>
          <a:p>
            <a:pPr>
              <a:buNone/>
            </a:pPr>
            <a:endParaRPr sz="7200" b="1" i="1" dirty="0">
              <a:solidFill>
                <a:srgbClr val="C00000"/>
              </a:solidFill>
              <a:latin typeface="Book Antiqua" pitchFamily="18" charset="0"/>
            </a:endParaRPr>
          </a:p>
          <a:p>
            <a:pPr>
              <a:buNone/>
            </a:pPr>
            <a:r>
              <a:rPr sz="7200" b="1" i="1">
                <a:solidFill>
                  <a:srgbClr val="C00000"/>
                </a:solidFill>
                <a:latin typeface="Book Antiqua" pitchFamily="18" charset="0"/>
              </a:rPr>
              <a:t>• </a:t>
            </a:r>
            <a:r>
              <a:rPr lang="en-US" sz="7200" b="1" i="1" dirty="0" smtClean="0">
                <a:solidFill>
                  <a:srgbClr val="C00000"/>
                </a:solidFill>
                <a:latin typeface="Book Antiqua" pitchFamily="18" charset="0"/>
              </a:rPr>
              <a:t>Amount Per Box  </a:t>
            </a:r>
            <a:r>
              <a:rPr lang="en-US" sz="7200" b="1" dirty="0" smtClean="0">
                <a:latin typeface="Book Antiqua" pitchFamily="18" charset="0"/>
              </a:rPr>
              <a:t>- </a:t>
            </a:r>
            <a:r>
              <a:rPr lang="en-US" sz="7200" dirty="0" smtClean="0">
                <a:latin typeface="Book Antiqua" pitchFamily="18" charset="0"/>
              </a:rPr>
              <a:t>Helps evaluate pricing effectiveness and product value realization.</a:t>
            </a:r>
          </a:p>
          <a:p>
            <a:pPr>
              <a:buNone/>
            </a:pPr>
            <a:endParaRPr sz="7200" b="1" i="1" dirty="0">
              <a:latin typeface="Book Antiqua" pitchFamily="18" charset="0"/>
            </a:endParaRPr>
          </a:p>
          <a:p>
            <a:pPr>
              <a:buNone/>
            </a:pPr>
            <a:r>
              <a:rPr sz="7200" b="1" i="1">
                <a:solidFill>
                  <a:srgbClr val="C00000"/>
                </a:solidFill>
                <a:latin typeface="Book Antiqua" pitchFamily="18" charset="0"/>
              </a:rPr>
              <a:t>• </a:t>
            </a:r>
            <a:r>
              <a:rPr lang="en-US" sz="7200" b="1" i="1" dirty="0" smtClean="0">
                <a:solidFill>
                  <a:srgbClr val="C00000"/>
                </a:solidFill>
                <a:latin typeface="Book Antiqua" pitchFamily="18" charset="0"/>
              </a:rPr>
              <a:t>Top Most Profitable-  </a:t>
            </a:r>
            <a:r>
              <a:rPr lang="en-US" sz="7200" dirty="0" smtClean="0">
                <a:latin typeface="Book Antiqua" pitchFamily="18" charset="0"/>
              </a:rPr>
              <a:t>Supports decision-making for promotions, production focus, and investments.</a:t>
            </a:r>
          </a:p>
          <a:p>
            <a:pPr>
              <a:buNone/>
            </a:pPr>
            <a:endParaRPr lang="en-US" sz="7200" i="1" dirty="0" smtClean="0">
              <a:solidFill>
                <a:srgbClr val="C00000"/>
              </a:solidFill>
              <a:latin typeface="Book Antiqua" pitchFamily="18" charset="0"/>
            </a:endParaRPr>
          </a:p>
          <a:p>
            <a:pPr>
              <a:buNone/>
            </a:pPr>
            <a:r>
              <a:rPr lang="en-US" sz="7200" i="1" dirty="0" smtClean="0">
                <a:solidFill>
                  <a:srgbClr val="C00000"/>
                </a:solidFill>
                <a:latin typeface="Book Antiqua" pitchFamily="18" charset="0"/>
              </a:rPr>
              <a:t>• </a:t>
            </a:r>
            <a:r>
              <a:rPr lang="en-US" sz="7200" b="1" i="1" dirty="0" smtClean="0">
                <a:solidFill>
                  <a:srgbClr val="C00000"/>
                </a:solidFill>
                <a:latin typeface="Book Antiqua" pitchFamily="18" charset="0"/>
              </a:rPr>
              <a:t>Amount – </a:t>
            </a:r>
            <a:r>
              <a:rPr lang="en-US" sz="7200" dirty="0" smtClean="0">
                <a:latin typeface="Book Antiqua" pitchFamily="18" charset="0"/>
              </a:rPr>
              <a:t>Compares Current Year (CY) sales amount with Previous Year (PY).</a:t>
            </a:r>
            <a:br>
              <a:rPr lang="en-US" sz="7200" dirty="0" smtClean="0">
                <a:latin typeface="Book Antiqua" pitchFamily="18" charset="0"/>
              </a:rPr>
            </a:br>
            <a:r>
              <a:rPr lang="en-US" sz="7200" dirty="0" smtClean="0">
                <a:latin typeface="Book Antiqua" pitchFamily="18" charset="0"/>
              </a:rPr>
              <a:t>Used to measure growth, decline, and year-on-year performance trends.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Screenshot 2026-01-05 2245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00390" y="836578"/>
            <a:ext cx="5768503" cy="55544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 flipH="1">
            <a:off x="6682896" y="1439695"/>
            <a:ext cx="2081719" cy="4056434"/>
          </a:xfrm>
        </p:spPr>
        <p:txBody>
          <a:bodyPr>
            <a:noAutofit/>
          </a:bodyPr>
          <a:lstStyle/>
          <a:p>
            <a:r>
              <a:rPr lang="en-US" sz="2000" b="0" dirty="0" smtClean="0">
                <a:solidFill>
                  <a:srgbClr val="FFFF00"/>
                </a:solidFill>
                <a:latin typeface="Book Antiqua" pitchFamily="18" charset="0"/>
              </a:rPr>
              <a:t>This image represents a </a:t>
            </a:r>
            <a:r>
              <a:rPr lang="en-US" sz="2000" u="sng" dirty="0" smtClean="0">
                <a:solidFill>
                  <a:srgbClr val="FFFF00"/>
                </a:solidFill>
                <a:latin typeface="Book Antiqua" pitchFamily="18" charset="0"/>
              </a:rPr>
              <a:t>Shipment Distribution chart</a:t>
            </a:r>
            <a:r>
              <a:rPr lang="en-US" sz="2000" dirty="0" smtClean="0">
                <a:solidFill>
                  <a:srgbClr val="FFFF00"/>
                </a:solidFill>
                <a:latin typeface="Book Antiqua" pitchFamily="18" charset="0"/>
              </a:rPr>
              <a:t> </a:t>
            </a:r>
            <a:r>
              <a:rPr lang="en-US" sz="2000" i="1" dirty="0" smtClean="0">
                <a:solidFill>
                  <a:srgbClr val="FFFF00"/>
                </a:solidFill>
                <a:latin typeface="Book Antiqua" pitchFamily="18" charset="0"/>
              </a:rPr>
              <a:t>(histogram-style bar chart) </a:t>
            </a:r>
            <a:r>
              <a:rPr lang="en-US" sz="2000" b="0" dirty="0" smtClean="0">
                <a:solidFill>
                  <a:srgbClr val="FFFF00"/>
                </a:solidFill>
                <a:latin typeface="Book Antiqua" pitchFamily="18" charset="0"/>
              </a:rPr>
              <a:t>showing how shipments are spread across different shipment values.</a:t>
            </a:r>
            <a:endParaRPr lang="en-US" sz="2000" b="0" dirty="0">
              <a:solidFill>
                <a:srgbClr val="FFFF00"/>
              </a:solidFill>
              <a:latin typeface="Book Antiqu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76664" y="185144"/>
            <a:ext cx="310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Our Products List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57464" y="1381327"/>
          <a:ext cx="60960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48000"/>
                <a:gridCol w="3048000"/>
              </a:tblGrid>
              <a:tr h="359923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</a:tr>
              <a:tr h="359923">
                <a:tc>
                  <a:txBody>
                    <a:bodyPr/>
                    <a:lstStyle/>
                    <a:p>
                      <a:r>
                        <a:rPr lang="en-US" dirty="0"/>
                        <a:t>Total Sales (Amount)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$141.49 Million</a:t>
                      </a:r>
                    </a:p>
                  </a:txBody>
                  <a:tcPr anchor="ctr"/>
                </a:tc>
              </a:tr>
              <a:tr h="359923">
                <a:tc>
                  <a:txBody>
                    <a:bodyPr/>
                    <a:lstStyle/>
                    <a:p>
                      <a:r>
                        <a:rPr lang="en-US" dirty="0"/>
                        <a:t>Total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$81.10 Million</a:t>
                      </a:r>
                    </a:p>
                  </a:txBody>
                  <a:tcPr anchor="ctr"/>
                </a:tc>
              </a:tr>
              <a:tr h="359923">
                <a:tc>
                  <a:txBody>
                    <a:bodyPr/>
                    <a:lstStyle/>
                    <a:p>
                      <a:r>
                        <a:rPr lang="en-US" dirty="0"/>
                        <a:t>Overall Profit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57.3%</a:t>
                      </a:r>
                    </a:p>
                  </a:txBody>
                  <a:tcPr anchor="ctr"/>
                </a:tc>
              </a:tr>
              <a:tr h="359923">
                <a:tc>
                  <a:txBody>
                    <a:bodyPr/>
                    <a:lstStyle/>
                    <a:p>
                      <a:r>
                        <a:rPr lang="en-US"/>
                        <a:t>Business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Profitable &amp; Stable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57464" y="3540868"/>
            <a:ext cx="622894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>
                <a:latin typeface="Book Antiqua" pitchFamily="18" charset="0"/>
              </a:rPr>
              <a:t>Focus on </a:t>
            </a:r>
            <a:r>
              <a:rPr lang="en-US" sz="2000" b="1" dirty="0" smtClean="0">
                <a:latin typeface="Book Antiqua" pitchFamily="18" charset="0"/>
              </a:rPr>
              <a:t>high-margin products</a:t>
            </a:r>
            <a:r>
              <a:rPr lang="en-US" sz="2000" dirty="0" smtClean="0">
                <a:latin typeface="Book Antiqua" pitchFamily="18" charset="0"/>
              </a:rPr>
              <a:t> for growth</a:t>
            </a:r>
            <a:r>
              <a:rPr lang="en-US" sz="2000" dirty="0" smtClean="0">
                <a:latin typeface="Book Antiqua" pitchFamily="18" charset="0"/>
              </a:rPr>
              <a:t>.</a:t>
            </a:r>
          </a:p>
          <a:p>
            <a:endParaRPr lang="en-US" sz="2000" dirty="0" smtClean="0">
              <a:latin typeface="Book Antiqua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000" dirty="0" smtClean="0">
                <a:latin typeface="Book Antiqua" pitchFamily="18" charset="0"/>
              </a:rPr>
              <a:t>Improve or discontinue </a:t>
            </a:r>
            <a:r>
              <a:rPr lang="en-US" sz="2000" b="1" dirty="0" smtClean="0">
                <a:latin typeface="Book Antiqua" pitchFamily="18" charset="0"/>
              </a:rPr>
              <a:t>loss-making products</a:t>
            </a:r>
            <a:r>
              <a:rPr lang="en-US" sz="2000" dirty="0" smtClean="0">
                <a:latin typeface="Book Antiqua" pitchFamily="18" charset="0"/>
              </a:rPr>
              <a:t>.</a:t>
            </a:r>
          </a:p>
          <a:p>
            <a:endParaRPr lang="en-US" sz="2000" dirty="0" smtClean="0">
              <a:latin typeface="Book Antiqua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000" dirty="0" smtClean="0">
                <a:latin typeface="Book Antiqua" pitchFamily="18" charset="0"/>
              </a:rPr>
              <a:t>Review pricing and costs for </a:t>
            </a:r>
            <a:r>
              <a:rPr lang="en-US" sz="2000" b="1" dirty="0" smtClean="0">
                <a:latin typeface="Book Antiqua" pitchFamily="18" charset="0"/>
              </a:rPr>
              <a:t>low-margin items</a:t>
            </a:r>
            <a:r>
              <a:rPr lang="en-US" sz="2000" dirty="0" smtClean="0">
                <a:latin typeface="Book Antiqua" pitchFamily="18" charset="0"/>
              </a:rPr>
              <a:t>.</a:t>
            </a:r>
          </a:p>
          <a:p>
            <a:endParaRPr lang="en-US" sz="2000" dirty="0" smtClean="0">
              <a:latin typeface="Book Antiqua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000" dirty="0" smtClean="0">
                <a:latin typeface="Book Antiqua" pitchFamily="18" charset="0"/>
              </a:rPr>
              <a:t>The business overall is </a:t>
            </a:r>
            <a:r>
              <a:rPr lang="en-US" sz="2000" b="1" dirty="0" smtClean="0">
                <a:latin typeface="Book Antiqua" pitchFamily="18" charset="0"/>
              </a:rPr>
              <a:t>healthy and profitable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77438" y="398833"/>
            <a:ext cx="582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Bookman Old Style" pitchFamily="18" charset="0"/>
              </a:rPr>
              <a:t>Detailed Profitability Analysis </a:t>
            </a:r>
            <a:r>
              <a:rPr lang="en-US" b="1" dirty="0" smtClean="0">
                <a:latin typeface="Bookman Old Style" pitchFamily="18" charset="0"/>
              </a:rPr>
              <a:t>of </a:t>
            </a:r>
            <a:r>
              <a:rPr lang="en-US" b="1" dirty="0" smtClean="0">
                <a:latin typeface="Bookman Old Style" pitchFamily="18" charset="0"/>
              </a:rPr>
              <a:t>Products</a:t>
            </a:r>
            <a:endParaRPr lang="en-US" b="1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5350214" y="748962"/>
            <a:ext cx="3628416" cy="5264792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65000"/>
                </a:schemeClr>
              </a:buClr>
              <a:buSzPct val="83000"/>
              <a:buFont typeface="Wingdings" pitchFamily="2" charset="2"/>
              <a:buChar char="q"/>
            </a:pPr>
            <a:r>
              <a:rPr lang="en-US" sz="1600" b="1" dirty="0" smtClean="0">
                <a:latin typeface="Book Antiqua" pitchFamily="18" charset="0"/>
              </a:rPr>
              <a:t>High concentration at lower shipment values (0–300):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Most shipments fall in this range, indicating </a:t>
            </a:r>
            <a:r>
              <a:rPr lang="en-US" sz="1600" b="1" dirty="0" smtClean="0">
                <a:latin typeface="Book Antiqua" pitchFamily="18" charset="0"/>
              </a:rPr>
              <a:t>frequent small-sized shipments</a:t>
            </a:r>
            <a:r>
              <a:rPr lang="en-US" sz="1600" dirty="0" smtClean="0">
                <a:latin typeface="Book Antiqua" pitchFamily="18" charset="0"/>
              </a:rPr>
              <a:t>.</a:t>
            </a: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endParaRPr lang="en-US" sz="1600" dirty="0" smtClean="0">
              <a:latin typeface="Book Antiqua" pitchFamily="18" charset="0"/>
            </a:endParaRP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r>
              <a:rPr lang="en-US" sz="1600" b="1" dirty="0" smtClean="0">
                <a:latin typeface="Book Antiqua" pitchFamily="18" charset="0"/>
              </a:rPr>
              <a:t>Peak frequency around 150–250 units: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This is where the </a:t>
            </a:r>
            <a:r>
              <a:rPr lang="en-US" sz="1600" b="1" dirty="0" smtClean="0">
                <a:latin typeface="Book Antiqua" pitchFamily="18" charset="0"/>
              </a:rPr>
              <a:t>maximum number of shipments</a:t>
            </a:r>
            <a:r>
              <a:rPr lang="en-US" sz="1600" dirty="0" smtClean="0">
                <a:latin typeface="Book Antiqua" pitchFamily="18" charset="0"/>
              </a:rPr>
              <a:t> occurs.</a:t>
            </a: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endParaRPr lang="en-US" sz="1600" dirty="0" smtClean="0">
              <a:latin typeface="Book Antiqua" pitchFamily="18" charset="0"/>
            </a:endParaRP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r>
              <a:rPr lang="en-US" sz="1600" b="1" dirty="0" smtClean="0">
                <a:latin typeface="Book Antiqua" pitchFamily="18" charset="0"/>
              </a:rPr>
              <a:t>Gradual decline after 300 units: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As shipment size increases, the </a:t>
            </a:r>
            <a:r>
              <a:rPr lang="en-US" sz="1600" b="1" dirty="0" smtClean="0">
                <a:latin typeface="Book Antiqua" pitchFamily="18" charset="0"/>
              </a:rPr>
              <a:t>number of shipments decreases</a:t>
            </a:r>
            <a:r>
              <a:rPr lang="en-US" sz="1600" dirty="0" smtClean="0">
                <a:latin typeface="Book Antiqua" pitchFamily="18" charset="0"/>
              </a:rPr>
              <a:t>.</a:t>
            </a: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endParaRPr lang="en-US" sz="1600" dirty="0" smtClean="0">
              <a:latin typeface="Book Antiqua" pitchFamily="18" charset="0"/>
            </a:endParaRP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r>
              <a:rPr lang="en-US" sz="1600" b="1" dirty="0" smtClean="0">
                <a:latin typeface="Book Antiqua" pitchFamily="18" charset="0"/>
              </a:rPr>
              <a:t>Very few large shipments (700–1000 units):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Large-volume shipments are </a:t>
            </a:r>
            <a:r>
              <a:rPr lang="en-US" sz="1600" b="1" dirty="0" smtClean="0">
                <a:latin typeface="Book Antiqua" pitchFamily="18" charset="0"/>
              </a:rPr>
              <a:t>rare</a:t>
            </a:r>
            <a:r>
              <a:rPr lang="en-US" sz="1600" dirty="0" smtClean="0">
                <a:latin typeface="Book Antiqua" pitchFamily="18" charset="0"/>
              </a:rPr>
              <a:t> compared to smaller ones.</a:t>
            </a:r>
          </a:p>
          <a:p>
            <a:pPr algn="l">
              <a:buClr>
                <a:schemeClr val="tx1">
                  <a:lumMod val="65000"/>
                </a:schemeClr>
              </a:buClr>
              <a:buFont typeface="Wingdings" pitchFamily="2" charset="2"/>
              <a:buChar char="q"/>
            </a:pPr>
            <a:endParaRPr lang="en-US" sz="1600" dirty="0">
              <a:latin typeface="Book Antiqua" pitchFamily="18" charset="0"/>
            </a:endParaRPr>
          </a:p>
        </p:txBody>
      </p:sp>
      <p:pic>
        <p:nvPicPr>
          <p:cNvPr id="12" name="Picture Placeholder 11" descr="Screenshot 2026-01-05 2233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33139" y="748962"/>
            <a:ext cx="4824920" cy="2838450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3139" y="3909251"/>
            <a:ext cx="5017074" cy="1732792"/>
          </a:xfrm>
        </p:spPr>
        <p:txBody>
          <a:bodyPr>
            <a:normAutofit/>
          </a:bodyPr>
          <a:lstStyle/>
          <a:p>
            <a:pPr algn="ctr"/>
            <a:r>
              <a:rPr lang="en-US" sz="1800" b="0" dirty="0" smtClean="0">
                <a:latin typeface="Book Antiqua" pitchFamily="18" charset="0"/>
              </a:rPr>
              <a:t>This image represents a </a:t>
            </a:r>
            <a:r>
              <a:rPr lang="en-US" sz="1800" u="sng" dirty="0" smtClean="0">
                <a:latin typeface="Book Antiqua" pitchFamily="18" charset="0"/>
              </a:rPr>
              <a:t>Shipment Distribution chart</a:t>
            </a:r>
            <a:r>
              <a:rPr lang="en-US" sz="1800" dirty="0" smtClean="0">
                <a:latin typeface="Book Antiqua" pitchFamily="18" charset="0"/>
              </a:rPr>
              <a:t> </a:t>
            </a:r>
            <a:r>
              <a:rPr lang="en-US" sz="1800" i="1" dirty="0" smtClean="0">
                <a:latin typeface="Book Antiqua" pitchFamily="18" charset="0"/>
              </a:rPr>
              <a:t>(histogram-style bar chart) </a:t>
            </a:r>
            <a:r>
              <a:rPr lang="en-US" sz="1800" b="0" dirty="0" smtClean="0">
                <a:latin typeface="Book Antiqua" pitchFamily="18" charset="0"/>
              </a:rPr>
              <a:t>showing how shipments are spread across different shipment values.</a:t>
            </a:r>
            <a:endParaRPr lang="en-US" sz="1800" b="0" dirty="0">
              <a:latin typeface="Book Antiqu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0749" y="252919"/>
            <a:ext cx="402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Shipment Distribution Analysis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5350214" y="612776"/>
            <a:ext cx="3472774" cy="5019540"/>
          </a:xfrm>
        </p:spPr>
        <p:txBody>
          <a:bodyPr>
            <a:noAutofit/>
          </a:bodyPr>
          <a:lstStyle/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Organic Chocolate – $12M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This is the </a:t>
            </a:r>
            <a:r>
              <a:rPr lang="en-US" sz="1600" b="1" dirty="0" smtClean="0">
                <a:latin typeface="Book Antiqua" pitchFamily="18" charset="0"/>
              </a:rPr>
              <a:t>top-selling product</a:t>
            </a:r>
            <a:r>
              <a:rPr lang="en-US" sz="1600" dirty="0" smtClean="0">
                <a:latin typeface="Book Antiqua" pitchFamily="18" charset="0"/>
              </a:rPr>
              <a:t>, generating the highest revenue.</a:t>
            </a:r>
          </a:p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Caramel Sticks – $10M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The </a:t>
            </a:r>
            <a:r>
              <a:rPr lang="en-US" sz="1600" b="1" dirty="0" smtClean="0">
                <a:latin typeface="Book Antiqua" pitchFamily="18" charset="0"/>
              </a:rPr>
              <a:t>second highest performer</a:t>
            </a:r>
            <a:r>
              <a:rPr lang="en-US" sz="1600" dirty="0" smtClean="0">
                <a:latin typeface="Book Antiqua" pitchFamily="18" charset="0"/>
              </a:rPr>
              <a:t>, contributing strongly to total sales.</a:t>
            </a:r>
          </a:p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Smooth Chocolate – $9M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A close third, showing consistent customer demand.</a:t>
            </a:r>
          </a:p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99% Dark Chocolate – $8M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Moderate sales, preferred by a niche segment.</a:t>
            </a:r>
          </a:p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Almond Chocolate – $8M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Equal sales to 99% Dark Chocolate, indicating similar market demand.</a:t>
            </a:r>
          </a:p>
          <a:p>
            <a:pPr algn="l">
              <a:buFontTx/>
              <a:buChar char="α"/>
            </a:pPr>
            <a:r>
              <a:rPr lang="en-US" sz="1600" b="1" dirty="0" smtClean="0">
                <a:latin typeface="Book Antiqua" pitchFamily="18" charset="0"/>
              </a:rPr>
              <a:t>70% Dark Chocolate – $7M</a:t>
            </a:r>
            <a:r>
              <a:rPr lang="en-US" sz="1600" dirty="0" smtClean="0">
                <a:latin typeface="Book Antiqua" pitchFamily="18" charset="0"/>
              </a:rPr>
              <a:t/>
            </a:r>
            <a:br>
              <a:rPr lang="en-US" sz="1600" dirty="0" smtClean="0">
                <a:latin typeface="Book Antiqua" pitchFamily="18" charset="0"/>
              </a:rPr>
            </a:br>
            <a:r>
              <a:rPr lang="en-US" sz="1600" dirty="0" smtClean="0">
                <a:latin typeface="Book Antiqua" pitchFamily="18" charset="0"/>
              </a:rPr>
              <a:t>The </a:t>
            </a:r>
            <a:r>
              <a:rPr lang="en-US" sz="1600" b="1" dirty="0" smtClean="0">
                <a:latin typeface="Book Antiqua" pitchFamily="18" charset="0"/>
              </a:rPr>
              <a:t>lowest among the top six</a:t>
            </a:r>
            <a:r>
              <a:rPr lang="en-US" sz="1600" dirty="0" smtClean="0">
                <a:latin typeface="Book Antiqua" pitchFamily="18" charset="0"/>
              </a:rPr>
              <a:t>, but still a significant contributor</a:t>
            </a:r>
            <a:r>
              <a:rPr lang="en-US" sz="1600" dirty="0" smtClean="0"/>
              <a:t>.</a:t>
            </a:r>
          </a:p>
          <a:p>
            <a:endParaRPr lang="en-US" sz="1600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>
          <a:xfrm>
            <a:off x="333139" y="612775"/>
            <a:ext cx="4744699" cy="2838450"/>
          </a:xfrm>
        </p:spPr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3139" y="3064213"/>
            <a:ext cx="5017074" cy="16634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2000" dirty="0" smtClean="0"/>
              <a:t>This image shows a column chart titled “Top 6 Products”, representing sales value (in million dollars) for the best-performing products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384" y="612775"/>
            <a:ext cx="4591454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083668" y="262647"/>
            <a:ext cx="3190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Top 6 Products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1692613" y="4865198"/>
            <a:ext cx="6439709" cy="1004279"/>
          </a:xfrm>
        </p:spPr>
        <p:txBody>
          <a:bodyPr>
            <a:normAutofit fontScale="92500"/>
          </a:bodyPr>
          <a:lstStyle/>
          <a:p>
            <a:pPr algn="l"/>
            <a:r>
              <a:rPr lang="en-US" sz="1900" dirty="0" smtClean="0"/>
              <a:t>The </a:t>
            </a:r>
            <a:r>
              <a:rPr lang="en-US" sz="1900" b="1" dirty="0" smtClean="0"/>
              <a:t>total revenue</a:t>
            </a:r>
            <a:r>
              <a:rPr lang="en-US" sz="1900" dirty="0" smtClean="0"/>
              <a:t> is divided among </a:t>
            </a:r>
            <a:r>
              <a:rPr lang="en-US" sz="1900" b="1" dirty="0" smtClean="0"/>
              <a:t>six countries</a:t>
            </a:r>
            <a:r>
              <a:rPr lang="en-US" sz="1900" dirty="0" smtClean="0"/>
              <a:t>.</a:t>
            </a:r>
          </a:p>
          <a:p>
            <a:pPr algn="l"/>
            <a:r>
              <a:rPr lang="en-US" sz="1900" dirty="0" smtClean="0"/>
              <a:t>Each colored segment represents a country’s </a:t>
            </a:r>
            <a:r>
              <a:rPr lang="en-US" sz="1900" b="1" dirty="0" smtClean="0"/>
              <a:t>share in total revenue</a:t>
            </a:r>
            <a:r>
              <a:rPr lang="en-US" sz="1900" dirty="0" smtClean="0"/>
              <a:t>, shown in </a:t>
            </a:r>
            <a:r>
              <a:rPr lang="en-US" sz="1900" b="1" dirty="0" smtClean="0"/>
              <a:t>amount ($M) and percentage</a:t>
            </a:r>
            <a:endParaRPr lang="en-US" sz="1900" dirty="0" smtClean="0"/>
          </a:p>
          <a:p>
            <a:endParaRPr lang="en-US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67710" y="914399"/>
            <a:ext cx="5807413" cy="386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4514" y="282102"/>
            <a:ext cx="8075432" cy="3599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Amount by Geo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900" b="1" dirty="0" smtClean="0">
                <a:latin typeface="Book Antiqua" pitchFamily="18" charset="0"/>
              </a:rPr>
              <a:t>India – $40M (28.56%)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India contributes the </a:t>
            </a:r>
            <a:r>
              <a:rPr lang="en-US" sz="1900" b="1" dirty="0" smtClean="0">
                <a:solidFill>
                  <a:srgbClr val="FF0000"/>
                </a:solidFill>
                <a:latin typeface="Book Antiqua" pitchFamily="18" charset="0"/>
              </a:rPr>
              <a:t>highest share</a:t>
            </a:r>
            <a:r>
              <a:rPr lang="en-US" sz="1900" dirty="0" smtClean="0">
                <a:latin typeface="Book Antiqua" pitchFamily="18" charset="0"/>
              </a:rPr>
              <a:t>, accounting for nearly </a:t>
            </a:r>
            <a:r>
              <a:rPr lang="en-US" sz="1900" b="1" dirty="0" smtClean="0">
                <a:solidFill>
                  <a:srgbClr val="FF0000"/>
                </a:solidFill>
                <a:latin typeface="Book Antiqua" pitchFamily="18" charset="0"/>
              </a:rPr>
              <a:t>one-third of total revenue</a:t>
            </a:r>
            <a:r>
              <a:rPr lang="en-US" sz="1900" dirty="0" smtClean="0">
                <a:solidFill>
                  <a:srgbClr val="FF0000"/>
                </a:solidFill>
                <a:latin typeface="Book Antiqua" pitchFamily="18" charset="0"/>
              </a:rPr>
              <a:t>.</a:t>
            </a:r>
          </a:p>
          <a:p>
            <a:endParaRPr lang="en-US" sz="1900" dirty="0" smtClean="0">
              <a:solidFill>
                <a:srgbClr val="FF0000"/>
              </a:solidFill>
              <a:latin typeface="Book Antiqua" pitchFamily="18" charset="0"/>
            </a:endParaRPr>
          </a:p>
          <a:p>
            <a:r>
              <a:rPr lang="en-US" sz="1900" b="1" dirty="0" smtClean="0">
                <a:latin typeface="Book Antiqua" pitchFamily="18" charset="0"/>
              </a:rPr>
              <a:t>New Zealand – $30M (21.27%)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New Zealand is the </a:t>
            </a:r>
            <a:r>
              <a:rPr lang="en-US" sz="1900" b="1" dirty="0" smtClean="0">
                <a:solidFill>
                  <a:srgbClr val="92D050"/>
                </a:solidFill>
                <a:latin typeface="Book Antiqua" pitchFamily="18" charset="0"/>
              </a:rPr>
              <a:t>second-largest contributor</a:t>
            </a:r>
            <a:r>
              <a:rPr lang="en-US" sz="1900" dirty="0" smtClean="0">
                <a:latin typeface="Book Antiqua" pitchFamily="18" charset="0"/>
              </a:rPr>
              <a:t>.</a:t>
            </a:r>
          </a:p>
          <a:p>
            <a:endParaRPr lang="en-US" sz="1900" dirty="0" smtClean="0">
              <a:latin typeface="Book Antiqua" pitchFamily="18" charset="0"/>
            </a:endParaRPr>
          </a:p>
          <a:p>
            <a:r>
              <a:rPr lang="en-US" sz="1900" b="1" dirty="0" smtClean="0">
                <a:latin typeface="Book Antiqua" pitchFamily="18" charset="0"/>
              </a:rPr>
              <a:t>Australia – $30M (21.09%)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Australia’s contribution is almost equal to New Zealand’s.</a:t>
            </a:r>
          </a:p>
          <a:p>
            <a:endParaRPr lang="en-US" sz="1900" dirty="0" smtClean="0">
              <a:latin typeface="Book Antiqua" pitchFamily="18" charset="0"/>
            </a:endParaRPr>
          </a:p>
          <a:p>
            <a:r>
              <a:rPr lang="en-US" sz="1900" b="1" dirty="0" smtClean="0">
                <a:latin typeface="Book Antiqua" pitchFamily="18" charset="0"/>
              </a:rPr>
              <a:t>USA – $21M (14.79%)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The USA contributes a </a:t>
            </a:r>
            <a:r>
              <a:rPr lang="en-US" sz="1900" b="1" dirty="0" smtClean="0">
                <a:latin typeface="Book Antiqua" pitchFamily="18" charset="0"/>
              </a:rPr>
              <a:t>moderate share</a:t>
            </a:r>
            <a:r>
              <a:rPr lang="en-US" sz="1900" dirty="0" smtClean="0">
                <a:latin typeface="Book Antiqua" pitchFamily="18" charset="0"/>
              </a:rPr>
              <a:t> of the revenue.</a:t>
            </a:r>
          </a:p>
          <a:p>
            <a:endParaRPr lang="en-US" sz="1900" dirty="0" smtClean="0">
              <a:latin typeface="Book Antiqua" pitchFamily="18" charset="0"/>
            </a:endParaRPr>
          </a:p>
          <a:p>
            <a:r>
              <a:rPr lang="en-US" sz="1900" b="1" dirty="0" smtClean="0">
                <a:latin typeface="Book Antiqua" pitchFamily="18" charset="0"/>
              </a:rPr>
              <a:t>UK – $10M (7.23%)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The UK contributes a </a:t>
            </a:r>
            <a:r>
              <a:rPr lang="en-US" sz="1900" b="1" dirty="0" smtClean="0">
                <a:latin typeface="Book Antiqua" pitchFamily="18" charset="0"/>
              </a:rPr>
              <a:t>smaller portion</a:t>
            </a:r>
            <a:r>
              <a:rPr lang="en-US" sz="1900" dirty="0" smtClean="0">
                <a:latin typeface="Book Antiqua" pitchFamily="18" charset="0"/>
              </a:rPr>
              <a:t>.</a:t>
            </a:r>
          </a:p>
          <a:p>
            <a:endParaRPr lang="en-US" sz="1900" dirty="0" smtClean="0">
              <a:latin typeface="Book Antiqua" pitchFamily="18" charset="0"/>
            </a:endParaRPr>
          </a:p>
          <a:p>
            <a:r>
              <a:rPr lang="en-US" sz="1900" b="1" dirty="0" smtClean="0">
                <a:latin typeface="Book Antiqua" pitchFamily="18" charset="0"/>
              </a:rPr>
              <a:t>Canada – $10M (7.07%)</a:t>
            </a:r>
            <a:r>
              <a:rPr lang="en-US" sz="1900" dirty="0" smtClean="0">
                <a:latin typeface="Book Antiqua" pitchFamily="18" charset="0"/>
              </a:rPr>
              <a:t/>
            </a:r>
            <a:br>
              <a:rPr lang="en-US" sz="1900" dirty="0" smtClean="0">
                <a:latin typeface="Book Antiqua" pitchFamily="18" charset="0"/>
              </a:rPr>
            </a:br>
            <a:r>
              <a:rPr lang="en-US" sz="1900" dirty="0" smtClean="0">
                <a:latin typeface="Book Antiqua" pitchFamily="18" charset="0"/>
              </a:rPr>
              <a:t>Canada has the </a:t>
            </a:r>
            <a:r>
              <a:rPr lang="en-US" sz="1900" b="1" dirty="0" smtClean="0">
                <a:solidFill>
                  <a:srgbClr val="002060"/>
                </a:solidFill>
                <a:latin typeface="Book Antiqua" pitchFamily="18" charset="0"/>
              </a:rPr>
              <a:t>lowest share</a:t>
            </a:r>
            <a:r>
              <a:rPr lang="en-US" sz="1900" dirty="0" smtClean="0">
                <a:latin typeface="Book Antiqua" pitchFamily="18" charset="0"/>
              </a:rPr>
              <a:t>, nearly equal to the UK</a:t>
            </a:r>
            <a:r>
              <a:rPr lang="en-US" dirty="0" smtClean="0">
                <a:latin typeface="Book Antiqua" pitchFamily="18" charset="0"/>
              </a:rPr>
              <a:t>.</a:t>
            </a:r>
            <a:endParaRPr lang="en-US" dirty="0">
              <a:latin typeface="Book Antiqua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Geographical &amp; Sales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Focus on improving low-performing shipment segments.</a:t>
            </a:r>
          </a:p>
          <a:p>
            <a:pPr>
              <a:buNone/>
            </a:pPr>
            <a:r>
              <a:t>• Optimize logistics for frequent shipment sizes.</a:t>
            </a:r>
          </a:p>
          <a:p>
            <a:pPr>
              <a:buNone/>
            </a:pPr>
            <a:r>
              <a:t>• Strengthen regional </a:t>
            </a:r>
            <a:r>
              <a:rPr/>
              <a:t>strategies </a:t>
            </a:r>
            <a:r>
              <a:rPr smtClean="0"/>
              <a:t>using</a:t>
            </a:r>
            <a:r>
              <a:rPr lang="en-US" dirty="0" smtClean="0"/>
              <a:t> </a:t>
            </a:r>
            <a:r>
              <a:rPr smtClean="0"/>
              <a:t>dashboard </a:t>
            </a:r>
            <a:r>
              <a:t>insights.</a:t>
            </a:r>
          </a:p>
          <a:p>
            <a:pPr>
              <a:buNone/>
            </a:pPr>
            <a:r>
              <a:t>• Use Power BI for continuous monitoring and reporting.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My </a:t>
            </a:r>
            <a:r>
              <a:rPr smtClean="0"/>
              <a:t>Recommendations</a:t>
            </a:r>
            <a:r>
              <a:rPr lang="en-US" dirty="0" smtClean="0"/>
              <a:t> 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027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latin typeface="Book Antiqua" pitchFamily="18" charset="0"/>
              </a:rPr>
              <a:t>1. Dashboard </a:t>
            </a:r>
            <a:r>
              <a:rPr lang="en-US" sz="1800" b="1" dirty="0" smtClean="0">
                <a:latin typeface="Book Antiqua" pitchFamily="18" charset="0"/>
              </a:rPr>
              <a:t>Objective</a:t>
            </a:r>
          </a:p>
          <a:p>
            <a:r>
              <a:rPr lang="en-US" sz="1800" dirty="0" smtClean="0">
                <a:latin typeface="Book Antiqua" pitchFamily="18" charset="0"/>
              </a:rPr>
              <a:t>To analyze </a:t>
            </a:r>
            <a:r>
              <a:rPr lang="en-US" sz="1800" b="1" dirty="0" smtClean="0">
                <a:latin typeface="Book Antiqua" pitchFamily="18" charset="0"/>
              </a:rPr>
              <a:t>sales, shipments, profitability, and performance </a:t>
            </a:r>
            <a:r>
              <a:rPr lang="en-US" sz="1800" b="1" dirty="0" smtClean="0">
                <a:latin typeface="Book Antiqua" pitchFamily="18" charset="0"/>
              </a:rPr>
              <a:t>trends</a:t>
            </a:r>
          </a:p>
          <a:p>
            <a:pPr>
              <a:buNone/>
            </a:pPr>
            <a:endParaRPr lang="en-US" sz="1800" dirty="0" smtClean="0">
              <a:latin typeface="Book Antiqua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Book Antiqua" pitchFamily="18" charset="0"/>
              </a:rPr>
              <a:t>2. Data </a:t>
            </a:r>
            <a:r>
              <a:rPr lang="en-US" sz="1800" b="1" dirty="0" smtClean="0">
                <a:latin typeface="Book Antiqua" pitchFamily="18" charset="0"/>
              </a:rPr>
              <a:t>Collection</a:t>
            </a:r>
          </a:p>
          <a:p>
            <a:r>
              <a:rPr lang="en-US" sz="1800" dirty="0" smtClean="0">
                <a:latin typeface="Book Antiqua" pitchFamily="18" charset="0"/>
              </a:rPr>
              <a:t>Sales, shipment, cost, and product data imported from </a:t>
            </a:r>
            <a:r>
              <a:rPr lang="en-US" sz="1800" b="1" dirty="0" smtClean="0">
                <a:latin typeface="Book Antiqua" pitchFamily="18" charset="0"/>
              </a:rPr>
              <a:t>Excel </a:t>
            </a:r>
            <a:r>
              <a:rPr lang="en-US" sz="1800" b="1" dirty="0" smtClean="0">
                <a:latin typeface="Book Antiqua" pitchFamily="18" charset="0"/>
              </a:rPr>
              <a:t>source</a:t>
            </a:r>
          </a:p>
          <a:p>
            <a:pPr>
              <a:buNone/>
            </a:pPr>
            <a:endParaRPr lang="en-US" sz="1800" dirty="0" smtClean="0">
              <a:latin typeface="Book Antiqua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Book Antiqua" pitchFamily="18" charset="0"/>
              </a:rPr>
              <a:t>3. Data </a:t>
            </a:r>
            <a:r>
              <a:rPr lang="en-US" sz="1800" b="1" dirty="0" smtClean="0">
                <a:latin typeface="Book Antiqua" pitchFamily="18" charset="0"/>
              </a:rPr>
              <a:t>Cleaning &amp; Transformation (Power </a:t>
            </a:r>
            <a:r>
              <a:rPr lang="en-US" sz="1800" b="1" dirty="0" smtClean="0">
                <a:latin typeface="Book Antiqua" pitchFamily="18" charset="0"/>
              </a:rPr>
              <a:t>Query)-Merge Query</a:t>
            </a:r>
          </a:p>
          <a:p>
            <a:pPr>
              <a:buNone/>
            </a:pPr>
            <a:endParaRPr lang="en-US" sz="1800" b="1" dirty="0" smtClean="0">
              <a:latin typeface="Book Antiqua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Book Antiqua" pitchFamily="18" charset="0"/>
              </a:rPr>
              <a:t>4.Data </a:t>
            </a:r>
            <a:r>
              <a:rPr lang="en-US" sz="1800" b="1" dirty="0" smtClean="0">
                <a:latin typeface="Book Antiqua" pitchFamily="18" charset="0"/>
              </a:rPr>
              <a:t>Modeling- </a:t>
            </a:r>
            <a:r>
              <a:rPr lang="en-US" sz="1800" dirty="0" smtClean="0">
                <a:latin typeface="Book Antiqua" pitchFamily="18" charset="0"/>
              </a:rPr>
              <a:t>Used </a:t>
            </a:r>
            <a:r>
              <a:rPr lang="en-US" sz="1800" b="1" dirty="0" smtClean="0">
                <a:latin typeface="Book Antiqua" pitchFamily="18" charset="0"/>
              </a:rPr>
              <a:t>star schema</a:t>
            </a:r>
            <a:r>
              <a:rPr lang="en-US" sz="1800" dirty="0" smtClean="0">
                <a:latin typeface="Book Antiqua" pitchFamily="18" charset="0"/>
              </a:rPr>
              <a:t> for better </a:t>
            </a:r>
            <a:r>
              <a:rPr lang="en-US" sz="1800" dirty="0" smtClean="0">
                <a:latin typeface="Book Antiqua" pitchFamily="18" charset="0"/>
              </a:rPr>
              <a:t>performance</a:t>
            </a:r>
          </a:p>
          <a:p>
            <a:pPr>
              <a:buNone/>
            </a:pPr>
            <a:endParaRPr lang="en-US" sz="1800" dirty="0" smtClean="0">
              <a:latin typeface="Book Antiqua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Book Antiqua" pitchFamily="18" charset="0"/>
              </a:rPr>
              <a:t>5. Measure Creation (DAX)</a:t>
            </a:r>
          </a:p>
          <a:p>
            <a:pPr>
              <a:buNone/>
            </a:pPr>
            <a:r>
              <a:rPr lang="en-US" sz="1800" dirty="0" smtClean="0">
                <a:latin typeface="Book Antiqua" pitchFamily="18" charset="0"/>
              </a:rPr>
              <a:t>Key measures created:</a:t>
            </a:r>
          </a:p>
          <a:p>
            <a:pPr>
              <a:buNone/>
            </a:pPr>
            <a:r>
              <a:rPr lang="en-US" sz="1800" dirty="0" smtClean="0">
                <a:latin typeface="Book Antiqua" pitchFamily="18" charset="0"/>
              </a:rPr>
              <a:t>Total </a:t>
            </a:r>
            <a:r>
              <a:rPr lang="en-US" sz="1800" dirty="0" smtClean="0">
                <a:latin typeface="Book Antiqua" pitchFamily="18" charset="0"/>
              </a:rPr>
              <a:t>Amount, Total Boxes, Shipment Count, Total Profit,  Profit %, </a:t>
            </a:r>
            <a:endParaRPr lang="en-US" sz="1800" dirty="0" smtClean="0">
              <a:latin typeface="Book Antiqua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Book Antiqua" pitchFamily="18" charset="0"/>
              </a:rPr>
              <a:t>CY </a:t>
            </a:r>
            <a:r>
              <a:rPr lang="en-US" sz="1800" dirty="0" err="1" smtClean="0">
                <a:latin typeface="Book Antiqua" pitchFamily="18" charset="0"/>
              </a:rPr>
              <a:t>vs</a:t>
            </a:r>
            <a:r>
              <a:rPr lang="en-US" sz="1800" dirty="0" smtClean="0">
                <a:latin typeface="Book Antiqua" pitchFamily="18" charset="0"/>
              </a:rPr>
              <a:t> PY </a:t>
            </a:r>
            <a:r>
              <a:rPr lang="en-US" sz="1800" dirty="0" smtClean="0">
                <a:latin typeface="Book Antiqua" pitchFamily="18" charset="0"/>
              </a:rPr>
              <a:t>Amount, CY </a:t>
            </a:r>
            <a:r>
              <a:rPr lang="en-US" sz="1800" dirty="0" err="1" smtClean="0">
                <a:latin typeface="Book Antiqua" pitchFamily="18" charset="0"/>
              </a:rPr>
              <a:t>vs</a:t>
            </a:r>
            <a:r>
              <a:rPr lang="en-US" sz="1800" dirty="0" smtClean="0">
                <a:latin typeface="Book Antiqua" pitchFamily="18" charset="0"/>
              </a:rPr>
              <a:t> PY </a:t>
            </a:r>
            <a:r>
              <a:rPr lang="en-US" sz="1800" dirty="0" smtClean="0">
                <a:latin typeface="Book Antiqua" pitchFamily="18" charset="0"/>
              </a:rPr>
              <a:t>Boxes, Amount </a:t>
            </a:r>
            <a:r>
              <a:rPr lang="en-US" sz="1800" dirty="0" smtClean="0">
                <a:latin typeface="Book Antiqua" pitchFamily="18" charset="0"/>
              </a:rPr>
              <a:t>per </a:t>
            </a:r>
            <a:r>
              <a:rPr lang="en-US" sz="1800" dirty="0" smtClean="0">
                <a:latin typeface="Book Antiqua" pitchFamily="18" charset="0"/>
              </a:rPr>
              <a:t>Box.</a:t>
            </a:r>
            <a:endParaRPr lang="en-US" sz="1800" dirty="0" smtClean="0">
              <a:latin typeface="Book Antiqua" pitchFamily="18" charset="0"/>
            </a:endParaRPr>
          </a:p>
          <a:p>
            <a:pPr>
              <a:buNone/>
            </a:pPr>
            <a:endParaRPr lang="en-US" sz="1800" dirty="0">
              <a:latin typeface="Book Antiqua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and Technologies Used: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27634" y="2500009"/>
            <a:ext cx="4756825" cy="10823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Bookman Old Style" pitchFamily="18" charset="0"/>
              </a:rPr>
              <a:t>Thank You</a:t>
            </a:r>
            <a:endParaRPr lang="en-US" sz="6000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283</TotalTime>
  <Words>336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Awesome Chocolates  Sales Performance Dashboard</vt:lpstr>
      <vt:lpstr>Power BI Dashboard Overview</vt:lpstr>
      <vt:lpstr>Scenarios</vt:lpstr>
      <vt:lpstr>This image represents a Shipment Distribution chart (histogram-style bar chart) showing how shipments are spread across different shipment values.</vt:lpstr>
      <vt:lpstr>Slide 5</vt:lpstr>
      <vt:lpstr>This image represents a Shipment Distribution chart (histogram-style bar chart) showing how shipments are spread across different shipment values.</vt:lpstr>
      <vt:lpstr>  This image shows a column chart titled “Top 6 Products”, representing sales value (in million dollars) for the best-performing products</vt:lpstr>
      <vt:lpstr>Amount by Geo</vt:lpstr>
      <vt:lpstr>Geographical &amp; Sales Insights</vt:lpstr>
      <vt:lpstr> My Recommendations :</vt:lpstr>
      <vt:lpstr>Tools and Technologies Used:</vt:lpstr>
      <vt:lpstr>Slide 12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 Analysis</dc:title>
  <dc:subject/>
  <dc:creator/>
  <cp:keywords/>
  <dc:description>generated using python-pptx</dc:description>
  <cp:lastModifiedBy>Eluri Bhargavi</cp:lastModifiedBy>
  <cp:revision>32</cp:revision>
  <dcterms:created xsi:type="dcterms:W3CDTF">2013-01-27T09:14:16Z</dcterms:created>
  <dcterms:modified xsi:type="dcterms:W3CDTF">2026-01-05T18:17:34Z</dcterms:modified>
  <cp:category/>
</cp:coreProperties>
</file>